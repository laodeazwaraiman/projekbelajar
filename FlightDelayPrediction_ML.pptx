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219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A1F3E"/>
          </a:solidFill>
          <a:ln w="12700">
            <a:solidFill>
              <a:srgbClr val="0A1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0"/>
            <a:ext cx="45720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0"/>
            <a:ext cx="3657600" cy="914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1828800" cy="3657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22860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22860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22860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2860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22860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22860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8346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8346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28346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8346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8346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28346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33832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3832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33832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3832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33832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33832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393192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93192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393192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93192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393192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393192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0" y="448056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448056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448056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448056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448056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448056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0" y="50292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50292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50292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50292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0" y="50292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55280" y="502920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0" y="55778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55778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0" y="55778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55778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32320" y="55778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55280" y="557784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0" y="61264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61264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61264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61264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32320" y="61264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55280" y="6126480"/>
            <a:ext cx="45720" cy="4572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2194560" cy="2194560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2286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3474720" y="502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</a:t>
            </a:r>
            <a:endParaRPr lang="en-US" sz="3800" dirty="0"/>
          </a:p>
        </p:txBody>
      </p:sp>
      <p:sp>
        <p:nvSpPr>
          <p:cNvPr id="58" name="Text 55"/>
          <p:cNvSpPr/>
          <p:nvPr/>
        </p:nvSpPr>
        <p:spPr>
          <a:xfrm>
            <a:off x="3474720" y="1097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KETERLAMBATAN</a:t>
            </a:r>
            <a:endParaRPr lang="en-US" sz="3800" dirty="0"/>
          </a:p>
        </p:txBody>
      </p:sp>
      <p:sp>
        <p:nvSpPr>
          <p:cNvPr id="59" name="Text 56"/>
          <p:cNvSpPr/>
          <p:nvPr/>
        </p:nvSpPr>
        <p:spPr>
          <a:xfrm>
            <a:off x="3474720" y="16916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PENERBANGAN</a:t>
            </a:r>
            <a:endParaRPr lang="en-US" sz="3800" dirty="0"/>
          </a:p>
        </p:txBody>
      </p:sp>
      <p:sp>
        <p:nvSpPr>
          <p:cNvPr id="60" name="Text 57"/>
          <p:cNvSpPr/>
          <p:nvPr/>
        </p:nvSpPr>
        <p:spPr>
          <a:xfrm>
            <a:off x="3474720" y="2423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Machine Learning Berbasis Data Historis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3474720" y="2971800"/>
            <a:ext cx="5029200" cy="36576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474720" y="3154680"/>
            <a:ext cx="5212080" cy="1508760"/>
          </a:xfrm>
          <a:prstGeom prst="rect">
            <a:avLst/>
          </a:prstGeom>
          <a:solidFill>
            <a:srgbClr val="0D1E33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3749040" y="324612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
</a:t>
            </a: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 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E1E123035
</a:t>
            </a: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Informatika
</a:t>
            </a: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 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Halu Oleo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13716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14400"/>
            <a:ext cx="5303520" cy="1143000"/>
          </a:xfrm>
          <a:prstGeom prst="rect">
            <a:avLst/>
          </a:prstGeom>
          <a:solidFill>
            <a:srgbClr val="0D1E33"/>
          </a:solidFill>
          <a:ln w="9525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914400"/>
            <a:ext cx="530352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515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0058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Keterlambatan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1371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Jutaan penumpang mengalami keterlambatan penerbangan setiap tahun di seluruh dunia, terutama di rute-rute tersibuk Amerika Serikat.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4320" y="2194560"/>
            <a:ext cx="5303520" cy="1143000"/>
          </a:xfrm>
          <a:prstGeom prst="rect">
            <a:avLst/>
          </a:prstGeom>
          <a:solidFill>
            <a:srgbClr val="0D1E33"/>
          </a:solidFill>
          <a:ln w="9525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194560"/>
            <a:ext cx="530352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3317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22860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Nyata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11480" y="2651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Kerugian maskapai mencapai miliaran dolar per tahun, sementara penumpang kehilangan waktu produktif dan mengalami ketidaknyamanan.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74320" y="3474720"/>
            <a:ext cx="5303520" cy="1143000"/>
          </a:xfrm>
          <a:prstGeom prst="rect">
            <a:avLst/>
          </a:prstGeom>
          <a:solidFill>
            <a:srgbClr val="0D1E33"/>
          </a:solidFill>
          <a:ln w="9525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3474720"/>
            <a:ext cx="530352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6118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35661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Urgensi Prediksi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11480" y="3931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delay secara akurat memungkinkan manajemen proaktif oleh maskapai dan perencanaan lebih baik bagi penumpang.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852160" y="914400"/>
            <a:ext cx="2971800" cy="1143000"/>
          </a:xfrm>
          <a:prstGeom prst="rect">
            <a:avLst/>
          </a:prstGeom>
          <a:solidFill>
            <a:srgbClr val="071428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852160" y="914400"/>
            <a:ext cx="297180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943600" y="10058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600" dirty="0"/>
          </a:p>
        </p:txBody>
      </p:sp>
      <p:sp>
        <p:nvSpPr>
          <p:cNvPr id="27" name="Text 21"/>
          <p:cNvSpPr/>
          <p:nvPr/>
        </p:nvSpPr>
        <p:spPr>
          <a:xfrm>
            <a:off x="5943600" y="15544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Penerbangan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Terlambat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852160" y="2194560"/>
            <a:ext cx="2971800" cy="1143000"/>
          </a:xfrm>
          <a:prstGeom prst="rect">
            <a:avLst/>
          </a:prstGeom>
          <a:solidFill>
            <a:srgbClr val="071428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852160" y="2194560"/>
            <a:ext cx="29718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943600" y="2286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$33B</a:t>
            </a:r>
            <a:endParaRPr lang="en-US" sz="3600" dirty="0"/>
          </a:p>
        </p:txBody>
      </p:sp>
      <p:sp>
        <p:nvSpPr>
          <p:cNvPr id="31" name="Text 25"/>
          <p:cNvSpPr/>
          <p:nvPr/>
        </p:nvSpPr>
        <p:spPr>
          <a:xfrm>
            <a:off x="5943600" y="2834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Kerugian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Tahunan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852160" y="3474720"/>
            <a:ext cx="2971800" cy="1143000"/>
          </a:xfrm>
          <a:prstGeom prst="rect">
            <a:avLst/>
          </a:prstGeom>
          <a:solidFill>
            <a:srgbClr val="071428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852160" y="3474720"/>
            <a:ext cx="29718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943600" y="35661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</a:t>
            </a:r>
            <a:endParaRPr lang="en-US" sz="3600" dirty="0"/>
          </a:p>
        </p:txBody>
      </p:sp>
      <p:sp>
        <p:nvSpPr>
          <p:cNvPr id="35" name="Text 29"/>
          <p:cNvSpPr/>
          <p:nvPr/>
        </p:nvSpPr>
        <p:spPr>
          <a:xfrm>
            <a:off x="5943600" y="4114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Historis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Dianalisis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PENELITIAN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14400"/>
            <a:ext cx="8595360" cy="1691640"/>
          </a:xfrm>
          <a:prstGeom prst="rect">
            <a:avLst/>
          </a:prstGeom>
          <a:solidFill>
            <a:srgbClr val="071428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14400"/>
            <a:ext cx="914400" cy="16916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91440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1371600" y="1005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Memprediksi ARRIVAL_DELAY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1463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model Machine Learning yang mampu memprediksi nilai keterlambatan kedatangan penerbangan (ARRIVAL_DELAY) secara akurat berdasarkan data historis penerbangan AS.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2834640"/>
            <a:ext cx="8595360" cy="1691640"/>
          </a:xfrm>
          <a:prstGeom prst="rect">
            <a:avLst/>
          </a:prstGeom>
          <a:solidFill>
            <a:srgbClr val="071428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" y="2834640"/>
            <a:ext cx="914400" cy="16916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834640"/>
            <a:ext cx="914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13716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Performa Model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383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evaluasi dan perbandingan sistematis antara beberapa algoritma ML (LightGBM, XGBoost, SGDRegressor) menggunakan metrik MAE, RMSE, dan R² untuk menentukan model terbaik.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14400"/>
            <a:ext cx="2011680" cy="1234440"/>
          </a:xfrm>
          <a:prstGeom prst="rect">
            <a:avLst/>
          </a:prstGeom>
          <a:solidFill>
            <a:srgbClr val="071428"/>
          </a:solidFill>
          <a:ln w="15240">
            <a:solidFill>
              <a:srgbClr val="F57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14400"/>
            <a:ext cx="201168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USDOT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441448" y="914400"/>
            <a:ext cx="2011680" cy="1234440"/>
          </a:xfrm>
          <a:prstGeom prst="rect">
            <a:avLst/>
          </a:prstGeom>
          <a:solidFill>
            <a:srgbClr val="071428"/>
          </a:solidFill>
          <a:ln w="15240">
            <a:solidFill>
              <a:srgbClr val="F57C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41448" y="914400"/>
            <a:ext cx="201168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32888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Baris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32888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500.000+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608576" y="914400"/>
            <a:ext cx="2011680" cy="1234440"/>
          </a:xfrm>
          <a:prstGeom prst="rect">
            <a:avLst/>
          </a:prstGeom>
          <a:solidFill>
            <a:srgbClr val="071428"/>
          </a:solidFill>
          <a:ln w="15240">
            <a:solidFill>
              <a:srgbClr val="F57C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08576" y="914400"/>
            <a:ext cx="201168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0016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Kolom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00016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Fitur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775704" y="914400"/>
            <a:ext cx="2011680" cy="1234440"/>
          </a:xfrm>
          <a:prstGeom prst="rect">
            <a:avLst/>
          </a:prstGeom>
          <a:solidFill>
            <a:srgbClr val="071428"/>
          </a:solidFill>
          <a:ln w="15240">
            <a:solidFill>
              <a:srgbClr val="F57C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75704" y="914400"/>
            <a:ext cx="201168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67144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Variabel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67144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_DELAY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27432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PENTING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74320" y="265176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DAY_OF_WEEK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AIRLINE, FLIGHT_NUMBER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ORIGIN, DESTINATION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SCHEDULED_DEPARTURE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DEPARTURE_DELAY, DISTANCE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ARRIVAL_DELAY (Target)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206240" y="2286000"/>
            <a:ext cx="4572000" cy="2423160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4297680" y="2286000"/>
            <a:ext cx="4389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ISI GAMBAR: Screenshot Dataset dari Kaggle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8D61F4F-FA18-BB38-2101-401500EF6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217" y="2317206"/>
            <a:ext cx="4480560" cy="23629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YANG DIGUNAKAN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4160520" cy="658368"/>
          </a:xfrm>
          <a:prstGeom prst="rect">
            <a:avLst/>
          </a:prstGeom>
          <a:solidFill>
            <a:srgbClr val="071428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60120"/>
            <a:ext cx="54864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1289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Manipulasi &amp; analisis data tabular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960120"/>
            <a:ext cx="4160520" cy="658368"/>
          </a:xfrm>
          <a:prstGeom prst="rect">
            <a:avLst/>
          </a:prstGeom>
          <a:solidFill>
            <a:srgbClr val="071428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960120"/>
            <a:ext cx="54864" cy="6583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92040" y="1289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Komputasi numerik &amp; array multidimensi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1737360"/>
            <a:ext cx="4160520" cy="658368"/>
          </a:xfrm>
          <a:prstGeom prst="rect">
            <a:avLst/>
          </a:prstGeom>
          <a:solidFill>
            <a:srgbClr val="071428"/>
          </a:solidFill>
          <a:ln w="9525">
            <a:solidFill>
              <a:srgbClr val="42A5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1737360"/>
            <a:ext cx="54864" cy="65836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data statistik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09160" y="1737360"/>
            <a:ext cx="4160520" cy="658368"/>
          </a:xfrm>
          <a:prstGeom prst="rect">
            <a:avLst/>
          </a:prstGeom>
          <a:solidFill>
            <a:srgbClr val="071428"/>
          </a:solidFill>
          <a:ln w="9525">
            <a:solidFill>
              <a:srgbClr val="FFB3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9160" y="1737360"/>
            <a:ext cx="54864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92040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ML: split data, model SGD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2514600"/>
            <a:ext cx="4160520" cy="658368"/>
          </a:xfrm>
          <a:prstGeom prst="rect">
            <a:avLst/>
          </a:prstGeom>
          <a:solidFill>
            <a:srgbClr val="071428"/>
          </a:solidFill>
          <a:ln w="9525">
            <a:solidFill>
              <a:srgbClr val="FF98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2514600"/>
            <a:ext cx="54864" cy="6583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&amp; XGBoost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2843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berkecepatan tinggi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3520440"/>
            <a:ext cx="4846320" cy="13716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" y="3520440"/>
            <a:ext cx="4572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3593592"/>
            <a:ext cx="4617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SGDRegressor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lightgbm as lgb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xgboost as xgb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349240" y="2677886"/>
            <a:ext cx="3520440" cy="2214154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5440680" y="352044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ISI GAMBAR: Screenshot Import Library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DC8D2FA-22AF-DFDE-0E78-05FCA7A9B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2743200"/>
            <a:ext cx="3282696" cy="21398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2011680" cy="1920240"/>
          </a:xfrm>
          <a:prstGeom prst="rect">
            <a:avLst/>
          </a:prstGeom>
          <a:solidFill>
            <a:srgbClr val="071428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60120"/>
            <a:ext cx="201168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6576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Akun Kaggle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576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dan login ke kaggle.com, buat API token dari Settings akun.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41448" y="960120"/>
            <a:ext cx="2011680" cy="1920240"/>
          </a:xfrm>
          <a:prstGeom prst="rect">
            <a:avLst/>
          </a:prstGeom>
          <a:solidFill>
            <a:srgbClr val="071428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41448" y="960120"/>
            <a:ext cx="201168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41448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2532888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Kaggle API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532888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kaggle.json ke environment dan install library Kaggle.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08576" y="960120"/>
            <a:ext cx="2011680" cy="1920240"/>
          </a:xfrm>
          <a:prstGeom prst="rect">
            <a:avLst/>
          </a:prstGeom>
          <a:solidFill>
            <a:srgbClr val="071428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08576" y="960120"/>
            <a:ext cx="201168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08576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700016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Dataset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00016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perintah Kaggle CLI untuk mengunduh dataset flight-delays.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775704" y="960120"/>
            <a:ext cx="2011680" cy="1920240"/>
          </a:xfrm>
          <a:prstGeom prst="rect">
            <a:avLst/>
          </a:prstGeom>
          <a:solidFill>
            <a:srgbClr val="071428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75704" y="960120"/>
            <a:ext cx="201168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75704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6867144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 File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867144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Unzip file hasil download, dataset siap digunakan untuk analisis.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4320" y="3017520"/>
            <a:ext cx="4846320" cy="1737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4320" y="3017520"/>
            <a:ext cx="45720" cy="1737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3090672"/>
            <a:ext cx="46177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Kaggle API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kaggle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dataset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!kaggle datasets download usdot/flight-delays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Ekstrak file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!unzip flight-delays.zip -d data/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349240" y="3017520"/>
            <a:ext cx="3520440" cy="1737360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5440680" y="3017520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ISI GAMBAR: Screenshot Download Dataset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593032A-13A0-A89B-9A83-C68C8D60E4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15963" b="463"/>
          <a:stretch>
            <a:fillRect/>
          </a:stretch>
        </p:blipFill>
        <p:spPr>
          <a:xfrm>
            <a:off x="5394958" y="3063240"/>
            <a:ext cx="3392426" cy="1618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5303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9601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Penting Dataset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1307592"/>
            <a:ext cx="5303520" cy="347472"/>
          </a:xfrm>
          <a:prstGeom prst="rect">
            <a:avLst/>
          </a:prstGeom>
          <a:solidFill>
            <a:srgbClr val="0D1E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13258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/ MONTH / DAY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0" y="1325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 waktu penerbangan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1673352"/>
            <a:ext cx="5303520" cy="347472"/>
          </a:xfrm>
          <a:prstGeom prst="rect">
            <a:avLst/>
          </a:prstGeom>
          <a:solidFill>
            <a:srgbClr val="0714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1691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DAY_OF_WEEK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743200" y="1691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dalam seminggu (1-7)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039112"/>
            <a:ext cx="5303520" cy="347472"/>
          </a:xfrm>
          <a:prstGeom prst="rect">
            <a:avLst/>
          </a:prstGeom>
          <a:solidFill>
            <a:srgbClr val="0D1E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2057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AIRLINE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743200" y="2057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maskapai (WN, AA, DL...)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2404872"/>
            <a:ext cx="5303520" cy="347472"/>
          </a:xfrm>
          <a:prstGeom prst="rect">
            <a:avLst/>
          </a:prstGeom>
          <a:solidFill>
            <a:srgbClr val="0714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24231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/ DESTINATION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743200" y="24231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bandara asal &amp; tujuan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2770632"/>
            <a:ext cx="5303520" cy="347472"/>
          </a:xfrm>
          <a:prstGeom prst="rect">
            <a:avLst/>
          </a:prstGeom>
          <a:solidFill>
            <a:srgbClr val="0D1E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2788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SCHEDULED_DEPARTURE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743200" y="27889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keberangkatan terjadwal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74320" y="3136392"/>
            <a:ext cx="5303520" cy="347472"/>
          </a:xfrm>
          <a:prstGeom prst="rect">
            <a:avLst/>
          </a:prstGeom>
          <a:solidFill>
            <a:srgbClr val="0714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3154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2A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DEPARTURE_DELAY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743200" y="3154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Keterlambatan keberangkatan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3502152"/>
            <a:ext cx="5303520" cy="347472"/>
          </a:xfrm>
          <a:prstGeom prst="rect">
            <a:avLst/>
          </a:prstGeom>
          <a:solidFill>
            <a:srgbClr val="0D1E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35204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ARRIVAL_DELAY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2743200" y="35204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keterlambatan kedatangan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74320" y="3931920"/>
            <a:ext cx="5303520" cy="960120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3931920"/>
            <a:ext cx="45720" cy="9601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" y="4005072"/>
            <a:ext cx="5074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Muat dataset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flights_raw = pd.read_csv('flights.csv')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Lihat info dasar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flights_raw.info()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flights_raw.describe()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print(flights_raw.shape)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760720" y="960120"/>
            <a:ext cx="3108960" cy="3931920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5852160" y="960120"/>
            <a:ext cx="2926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ISI GAMBAR: Screenshot info() Dataset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319FAE5-1F36-BBA0-60FC-1CE5906E5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026776"/>
            <a:ext cx="2880360" cy="37921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5303520" cy="1143000"/>
          </a:xfrm>
          <a:prstGeom prst="rect">
            <a:avLst/>
          </a:prstGeom>
          <a:solidFill>
            <a:srgbClr val="071428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60120"/>
            <a:ext cx="64008" cy="11430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Hapus Penerbangan Cancelled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1344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Penerbangan yang dibatalkan tidak memiliki data arrival delay yang valid.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645920"/>
            <a:ext cx="4937760" cy="292608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167335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df[df['CANCELLED'] == 0]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2240280"/>
            <a:ext cx="5303520" cy="1143000"/>
          </a:xfrm>
          <a:prstGeom prst="rect">
            <a:avLst/>
          </a:prstGeom>
          <a:solidFill>
            <a:srgbClr val="071428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240280"/>
            <a:ext cx="64008" cy="1143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Hapus Penerbangan Diverted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2624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Penerbangan yang dialihkan memiliki destinasi berbeda, tidak relevan.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2926080"/>
            <a:ext cx="4937760" cy="292608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95351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df[df['DIVERTED'] == 0]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3520440"/>
            <a:ext cx="5303520" cy="1143000"/>
          </a:xfrm>
          <a:prstGeom prst="rect">
            <a:avLst/>
          </a:prstGeom>
          <a:solidFill>
            <a:srgbClr val="071428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3520440"/>
            <a:ext cx="64008" cy="11430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Handle Missing Values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3904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dengan missing value &gt; 50% didrop, sisanya diisi median/modus.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4206240"/>
            <a:ext cx="4937760" cy="292608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42336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df.dropna(subset=['ARRIVAL_DELAY'], inplace=True)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760720" y="960120"/>
            <a:ext cx="3108960" cy="3794760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5852160" y="960120"/>
            <a:ext cx="29260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ISI GAMBAR: Screenshot Data Cleaning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8607135-A490-BFB1-FE0F-69A12A15F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024128"/>
            <a:ext cx="2926080" cy="3639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 TARGET VARIABLE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28600" y="832104"/>
            <a:ext cx="5486400" cy="3200400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365760" y="960120"/>
            <a:ext cx="5303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035040" y="1005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417320"/>
            <a:ext cx="2834640" cy="658368"/>
          </a:xfrm>
          <a:prstGeom prst="rect">
            <a:avLst/>
          </a:prstGeom>
          <a:solidFill>
            <a:srgbClr val="071428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2648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ARRIVAL_DELAY condong ke kanan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35040" y="2167128"/>
            <a:ext cx="2834640" cy="658368"/>
          </a:xfrm>
          <a:prstGeom prst="rect">
            <a:avLst/>
          </a:prstGeom>
          <a:solidFill>
            <a:srgbClr val="071428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menit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26480" y="2505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keterlambatan kedatangan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35040" y="2916936"/>
            <a:ext cx="2834640" cy="658368"/>
          </a:xfrm>
          <a:prstGeom prst="rect">
            <a:avLst/>
          </a:prstGeom>
          <a:solidFill>
            <a:srgbClr val="071428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 s/d +1000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2648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nilai (menit)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5040" y="3666744"/>
            <a:ext cx="2834640" cy="658368"/>
          </a:xfrm>
          <a:prstGeom prst="rect">
            <a:avLst/>
          </a:prstGeom>
          <a:solidFill>
            <a:srgbClr val="071428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3712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2648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Penerbangan tepat waktu / lebih cepat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4320" y="4114800"/>
            <a:ext cx="5486400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" y="4114800"/>
            <a:ext cx="45720" cy="8229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42062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Visualisasi distribusi target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plt.figure(figsize=(12,5))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sns.histplot(df['ARRIVAL_DELAY'], bins=100, kde=True)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plt.title('Distribusi ARRIVAL_DELAY')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7E9115B-90F5-1207-D17F-F2A2A6AD8C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6938"/>
          <a:stretch>
            <a:fillRect/>
          </a:stretch>
        </p:blipFill>
        <p:spPr>
          <a:xfrm>
            <a:off x="274320" y="877824"/>
            <a:ext cx="53492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4846320" cy="1143000"/>
          </a:xfrm>
          <a:prstGeom prst="rect">
            <a:avLst/>
          </a:prstGeom>
          <a:solidFill>
            <a:srgbClr val="0D1E33"/>
          </a:solidFill>
          <a:ln w="9525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960120"/>
            <a:ext cx="484632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0515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 Fitur Waktu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1417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keberangkatan, hari dalam minggu, dan flag weekend diekstraksi dari kolom waktu untuk menangkap pola periodik.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2240280"/>
            <a:ext cx="4846320" cy="1143000"/>
          </a:xfrm>
          <a:prstGeom prst="rect">
            <a:avLst/>
          </a:prstGeom>
          <a:solidFill>
            <a:srgbClr val="0D1E33"/>
          </a:solidFill>
          <a:ln w="9525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240280"/>
            <a:ext cx="484632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3317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Transformasi Fitur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kategorikal untuk airline dan airport, normalisasi fitur numerik agar model dapat belajar optimal.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3520440"/>
            <a:ext cx="4846320" cy="1143000"/>
          </a:xfrm>
          <a:prstGeom prst="rect">
            <a:avLst/>
          </a:prstGeom>
          <a:solidFill>
            <a:srgbClr val="0D1E33"/>
          </a:solidFill>
          <a:ln w="9525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520440"/>
            <a:ext cx="484632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53263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Seleksi Fitur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1480" y="3977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dengan korelasi tinggi terhadap ARRIVAL_DELAY dipertahankan; fitur redundan dieliminasi.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3886200"/>
            <a:ext cx="4846320" cy="1005840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3886200"/>
            <a:ext cx="45720" cy="10058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910584"/>
            <a:ext cx="4617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extract_time_features(df):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df['HOUR'] = df['SCHEDULED_DEPARTURE'] // 100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df['IS_WEEKEND'] = df['DAY_OF_WEEK'].isin([6,7]).astype(int)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df['RUSH_HOUR'] = df['HOUR'].between(7,9) | df['HOUR'].between(16,19)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900" dirty="0" err="1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extract_time_features(df)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349240" y="960120"/>
            <a:ext cx="3520440" cy="3931920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5440680" y="960120"/>
            <a:ext cx="3337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ISI GAMBAR: Screenshot Fungsi Feature Engineering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8FB72FE-E738-E4B1-7C64-D612D8A63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040130"/>
            <a:ext cx="3416348" cy="37787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4206240" cy="1828800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ISI GAMBAR: Grafik Delay per Maskapai (Bar Chart)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4800600" y="9601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ISI GAMBAR: Grafik Delay per Bulan (Line Chart)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2926080"/>
            <a:ext cx="8595360" cy="1920240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365760" y="292608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E6404EC-F1E8-BA95-92F2-6FD97D68D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021080"/>
            <a:ext cx="4114801" cy="17038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54B1365-1E15-765E-F1E0-E86DA1B4A7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8500"/>
          <a:stretch>
            <a:fillRect/>
          </a:stretch>
        </p:blipFill>
        <p:spPr>
          <a:xfrm>
            <a:off x="4754882" y="1014373"/>
            <a:ext cx="4114798" cy="17059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EF780ED-31DF-06D6-52BC-D466697096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971800"/>
            <a:ext cx="8503920" cy="18262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2743200" cy="1920240"/>
          </a:xfrm>
          <a:prstGeom prst="rect">
            <a:avLst/>
          </a:prstGeom>
          <a:solidFill>
            <a:srgbClr val="071428"/>
          </a:solidFill>
          <a:ln w="15240">
            <a:solidFill>
              <a:srgbClr val="F57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576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37360"/>
            <a:ext cx="219456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&amp; efisien memori, cocok untuk dataset besar dengan histogram-based learning.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54680" y="960120"/>
            <a:ext cx="2743200" cy="1920240"/>
          </a:xfrm>
          <a:prstGeom prst="rect">
            <a:avLst/>
          </a:prstGeom>
          <a:solidFill>
            <a:srgbClr val="071428"/>
          </a:solidFill>
          <a:ln w="15240">
            <a:solidFill>
              <a:srgbClr val="1E88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54680" y="960120"/>
            <a:ext cx="27432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612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2461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429000" y="1737360"/>
            <a:ext cx="219456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4612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Regularisasi L1/L2 kuat, paralel training, performa tinggi pada data tabular.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35040" y="960120"/>
            <a:ext cx="2743200" cy="1920240"/>
          </a:xfrm>
          <a:prstGeom prst="rect">
            <a:avLst/>
          </a:prstGeom>
          <a:solidFill>
            <a:srgbClr val="071428"/>
          </a:solidFill>
          <a:ln w="15240">
            <a:solidFill>
              <a:srgbClr val="FFB3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960120"/>
            <a:ext cx="27432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SGDRegressor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1264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309360" y="1737360"/>
            <a:ext cx="219456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2648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dengan Stochastic Gradient Descent, cepat dan sederhana.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4320" y="3017520"/>
            <a:ext cx="4846320" cy="1737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4320" y="3017520"/>
            <a:ext cx="45720" cy="1737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3090672"/>
            <a:ext cx="46177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data training &amp; testing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Contoh: SGDRegressor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SGDRegressor(max_iter=1000, tol=1e-3)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model.predict(X_test)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349240" y="3017520"/>
            <a:ext cx="3520440" cy="1737360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5440680" y="3017520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ISI GAMBAR: Screenshot Training Model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C9F4300-99B5-F218-D1D2-0B165143D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388" y="3057895"/>
            <a:ext cx="3424572" cy="16695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MODEL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2743200" cy="1325880"/>
          </a:xfrm>
          <a:prstGeom prst="rect">
            <a:avLst/>
          </a:prstGeom>
          <a:solidFill>
            <a:srgbClr val="071428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60120"/>
            <a:ext cx="274320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576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selisih absolut prediksi vs aktual (menit)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54680" y="960120"/>
            <a:ext cx="2743200" cy="1325880"/>
          </a:xfrm>
          <a:prstGeom prst="rect">
            <a:avLst/>
          </a:prstGeom>
          <a:solidFill>
            <a:srgbClr val="071428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54680" y="960120"/>
            <a:ext cx="27432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4612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2461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Error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4612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dari rata-rata kuadrat error, sensitif terhadap outlier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35040" y="960120"/>
            <a:ext cx="2743200" cy="1325880"/>
          </a:xfrm>
          <a:prstGeom prst="rect">
            <a:avLst/>
          </a:prstGeom>
          <a:solidFill>
            <a:srgbClr val="071428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35040" y="960120"/>
            <a:ext cx="27432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1264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/ R2 Score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26480" y="1719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variansi yang dijelaskan model (0-1, semakin tinggi lebih baik)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2423160"/>
            <a:ext cx="8595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2441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148840" y="2441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(menit)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886200" y="2441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(menit)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623560" y="24414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360920" y="24414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4320" y="2807208"/>
            <a:ext cx="8595360" cy="457200"/>
          </a:xfrm>
          <a:prstGeom prst="rect">
            <a:avLst/>
          </a:prstGeom>
          <a:solidFill>
            <a:srgbClr val="071E3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28254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(80:20)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48840" y="28254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1.3975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886200" y="28254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3.7006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623560" y="28254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R²=0.9916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360920" y="282549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🥇 #1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4320" y="3282696"/>
            <a:ext cx="8595360" cy="457200"/>
          </a:xfrm>
          <a:prstGeom prst="rect">
            <a:avLst/>
          </a:prstGeom>
          <a:solidFill>
            <a:srgbClr val="071428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320040" y="330098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(70:30)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148840" y="330098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1.4049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886200" y="330098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0" dirty="0">
                <a:solidFill>
                  <a:srgbClr val="CCCAC2"/>
                </a:solidFill>
                <a:effectLst/>
                <a:latin typeface="Consolas" panose="020B0609020204030204" pitchFamily="49" charset="0"/>
              </a:rPr>
              <a:t>4.1284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623560" y="330098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0" dirty="0">
                <a:solidFill>
                  <a:srgbClr val="CCCAC2"/>
                </a:solidFill>
                <a:effectLst/>
                <a:latin typeface="Consolas" panose="020B0609020204030204" pitchFamily="49" charset="0"/>
              </a:rPr>
              <a:t>R²=0.9896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360920" y="330098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🥈 #2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74320" y="3758184"/>
            <a:ext cx="8595360" cy="457200"/>
          </a:xfrm>
          <a:prstGeom prst="rect">
            <a:avLst/>
          </a:prstGeom>
          <a:solidFill>
            <a:srgbClr val="0D1E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0040" y="37764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(90:10)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2148840" y="37764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0" dirty="0">
                <a:solidFill>
                  <a:srgbClr val="CCCAC2"/>
                </a:solidFill>
                <a:effectLst/>
                <a:latin typeface="Consolas" panose="020B0609020204030204" pitchFamily="49" charset="0"/>
              </a:rPr>
              <a:t>1.3528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3886200" y="37764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3.5091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623560" y="37764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i="0" dirty="0">
                <a:solidFill>
                  <a:srgbClr val="CCCAC2"/>
                </a:solidFill>
                <a:effectLst/>
                <a:latin typeface="Consolas" panose="020B0609020204030204" pitchFamily="49" charset="0"/>
              </a:rPr>
              <a:t>R²=0.9925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60920" y="37764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🥉 #3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2228850" y="4251960"/>
            <a:ext cx="4812030" cy="640080"/>
          </a:xfrm>
          <a:prstGeom prst="rect">
            <a:avLst/>
          </a:prstGeom>
          <a:solidFill>
            <a:srgbClr val="0D2137"/>
          </a:solidFill>
          <a:ln w="19050">
            <a:solidFill>
              <a:srgbClr val="F57C00"/>
            </a:solidFill>
            <a:prstDash val="dash"/>
          </a:ln>
        </p:spPr>
      </p:sp>
      <p:sp>
        <p:nvSpPr>
          <p:cNvPr id="49" name="Text 46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ISI GAMBAR: Screenshot Hasil Evaluasi Model (MAE / RMSE / R²)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E58D929-0A1F-4CA4-EA5E-C6F13BBB6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0" y="4297680"/>
            <a:ext cx="45339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INSIGHT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8595360" cy="1005840"/>
          </a:xfrm>
          <a:prstGeom prst="rect">
            <a:avLst/>
          </a:prstGeom>
          <a:solidFill>
            <a:srgbClr val="071E3A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60120"/>
            <a:ext cx="859536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MODEL TERBAIK:  LightGBM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" y="14356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berada</a:t>
            </a: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</a:t>
            </a: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</a:t>
            </a: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(R² ~0.94), </a:t>
            </a:r>
            <a:r>
              <a:rPr lang="en-US" sz="11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sedangkan</a:t>
            </a: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SGD Regressor paling </a:t>
            </a:r>
            <a:r>
              <a:rPr lang="en-US" sz="11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lemah</a:t>
            </a: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(R² ~0.88, MAPE 87%).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103120"/>
            <a:ext cx="2743200" cy="2606040"/>
          </a:xfrm>
          <a:prstGeom prst="rect">
            <a:avLst/>
          </a:prstGeom>
          <a:solidFill>
            <a:srgbClr val="071428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2103120"/>
            <a:ext cx="274320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Utama Keterlambatan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2523744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DEPARTURE_DELAY —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tertinggi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arrival delay (r = 0.9398),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prediktor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terkuat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sejauh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iniPenerbangan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malam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terlambat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TAXI_OUT —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0.258,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taxi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bandara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berkontribusi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signifikan</a:t>
            </a:r>
            <a:endParaRPr lang="en-US" sz="1000" dirty="0">
              <a:solidFill>
                <a:srgbClr val="E8EDF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DEP_HOUR / DEP_PERIOD — jam </a:t>
            </a:r>
            <a:r>
              <a:rPr lang="en-US" sz="1000" dirty="0" err="1">
                <a:solidFill>
                  <a:schemeClr val="bg1"/>
                </a:solidFill>
              </a:rPr>
              <a:t>keberangkatan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mempengaruhi</a:t>
            </a:r>
            <a:r>
              <a:rPr lang="en-US" sz="1000" dirty="0">
                <a:solidFill>
                  <a:schemeClr val="bg1"/>
                </a:solidFill>
              </a:rPr>
              <a:t> delay </a:t>
            </a:r>
            <a:r>
              <a:rPr lang="en-US" sz="1000" dirty="0" err="1">
                <a:solidFill>
                  <a:schemeClr val="bg1"/>
                </a:solidFill>
              </a:rPr>
              <a:t>kedatangan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TAXI_IN, ELAPSED_TIME — </a:t>
            </a:r>
            <a:r>
              <a:rPr lang="en-US" sz="1000" dirty="0" err="1">
                <a:solidFill>
                  <a:schemeClr val="bg1"/>
                </a:solidFill>
              </a:rPr>
              <a:t>faktor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operasional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  <a:r>
              <a:rPr lang="en-US" sz="1000" dirty="0" err="1">
                <a:solidFill>
                  <a:schemeClr val="bg1"/>
                </a:solidFill>
              </a:rPr>
              <a:t>penerbangan</a:t>
            </a:r>
            <a:endParaRPr lang="en-US" sz="10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bg1"/>
                </a:solidFill>
              </a:rPr>
              <a:t>AIRLINE, ORIGIN_AIRPORT, DESTINATION_AIRPORT — </a:t>
            </a:r>
            <a:r>
              <a:rPr lang="en-US" sz="1000" dirty="0" err="1">
                <a:solidFill>
                  <a:schemeClr val="bg1"/>
                </a:solidFill>
              </a:rPr>
              <a:t>pola</a:t>
            </a:r>
            <a:r>
              <a:rPr lang="en-US" sz="1000" dirty="0">
                <a:solidFill>
                  <a:schemeClr val="bg1"/>
                </a:solidFill>
              </a:rPr>
              <a:t> per </a:t>
            </a:r>
            <a:r>
              <a:rPr lang="en-US" sz="1000" dirty="0" err="1">
                <a:solidFill>
                  <a:schemeClr val="bg1"/>
                </a:solidFill>
              </a:rPr>
              <a:t>maskapai</a:t>
            </a:r>
            <a:r>
              <a:rPr lang="en-US" sz="1000" dirty="0">
                <a:solidFill>
                  <a:schemeClr val="bg1"/>
                </a:solidFill>
              </a:rPr>
              <a:t> dan </a:t>
            </a:r>
            <a:r>
              <a:rPr lang="en-US" sz="1000" dirty="0" err="1">
                <a:solidFill>
                  <a:schemeClr val="bg1"/>
                </a:solidFill>
              </a:rPr>
              <a:t>bandara</a:t>
            </a:r>
            <a:r>
              <a:rPr lang="en-US" sz="1000" dirty="0">
                <a:solidFill>
                  <a:schemeClr val="bg1"/>
                </a:solidFill>
              </a:rPr>
              <a:t> juga </a:t>
            </a:r>
            <a:r>
              <a:rPr lang="en-US" sz="1000" dirty="0" err="1">
                <a:solidFill>
                  <a:schemeClr val="bg1"/>
                </a:solidFill>
              </a:rPr>
              <a:t>berpengaruh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154680" y="2103120"/>
            <a:ext cx="2743200" cy="2606040"/>
          </a:xfrm>
          <a:prstGeom prst="rect">
            <a:avLst/>
          </a:prstGeom>
          <a:solidFill>
            <a:srgbClr val="071428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154680" y="2103120"/>
            <a:ext cx="27432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91840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Temporal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91840" y="260604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Desember &amp; Januari (musim dingin) lebih sering delay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Jumat &amp; Senin memiliki delay tertinggi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keberangkatan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sore–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malam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sekitar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16:00–22:00) paling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mengalami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delay,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sementara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penerbangan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(05:00–08:00)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relatif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on-time</a:t>
            </a:r>
          </a:p>
        </p:txBody>
      </p:sp>
      <p:sp>
        <p:nvSpPr>
          <p:cNvPr id="21" name="Shape 18"/>
          <p:cNvSpPr/>
          <p:nvPr/>
        </p:nvSpPr>
        <p:spPr>
          <a:xfrm>
            <a:off x="6035040" y="2103120"/>
            <a:ext cx="2743200" cy="2606040"/>
          </a:xfrm>
          <a:prstGeom prst="rect">
            <a:avLst/>
          </a:prstGeom>
          <a:solidFill>
            <a:srgbClr val="071428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2103120"/>
            <a:ext cx="27432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Rute &amp; Maskapai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72200" y="260604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 jarak jauh memiliki variasi delay lebih besar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Bandara hub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sibuk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terhadap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cascading delay (delay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berantai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penerbangan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berikutnya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Maskapai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tertentu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memiliki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delay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</a:t>
            </a: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1000" dirty="0" err="1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0D1E33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60120"/>
            <a:ext cx="731520" cy="8686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9601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3000" y="10058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terbukti efektif untuk memprediksi keterlambatan penerbangan dengan akurasi yang memadai (R² ≈ 0.99) menggunakan data historis penerbangan AS.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74320" y="1965960"/>
            <a:ext cx="8595360" cy="868680"/>
          </a:xfrm>
          <a:prstGeom prst="rect">
            <a:avLst/>
          </a:prstGeom>
          <a:solidFill>
            <a:srgbClr val="0D1E33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1965960"/>
            <a:ext cx="731520" cy="8686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196596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43000" y="20116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ensemble berbasis gradient boosting (LightGBM &amp; XGBoost) secara konsisten mengungguli model linear (SGDRegressor) dalam semua metrik evaluasi.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8595360" cy="868680"/>
          </a:xfrm>
          <a:prstGeom prst="rect">
            <a:avLst/>
          </a:prstGeom>
          <a:solidFill>
            <a:srgbClr val="0D1E33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2971800"/>
            <a:ext cx="731520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9718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143000" y="30175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DEPARTURE_DELAY merupakan fitur paling berpengaruh, diikuti oleh dimensi waktu (jam, hari, bulan) dan identitas maskapai/rute.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0D1E33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3977640"/>
            <a:ext cx="731520" cy="8686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39776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43000" y="40233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prediksi delay dapat membantu maskapai dalam manajemen operasional proaktif dan meningkatkan kepuasan penumpang secara signifikan.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772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 &amp; REKOMENDASI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9144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19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ODE AZWAR AIMAN  |  E1E123035  |  UNIVERSITAS HALU OLEO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412480" y="4919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0D1E33"/>
          </a:solidFill>
          <a:ln w="9525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960120"/>
            <a:ext cx="416052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97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Data Lebih Besar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141732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model dengan dataset multi-tahun (2015-2023) untuk menangkap perubahan pola penerbangan pasca-pandemi dan meningkatkan generalisasi model.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4320" y="960120"/>
            <a:ext cx="416052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0D1E33"/>
          </a:solidFill>
          <a:ln w="9525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09160" y="960120"/>
            <a:ext cx="416052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0972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20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Fitur Eksternal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46320" y="141732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Integrasikan data cuaca real-time (NOAA API), kepadatan lalu lintas udara, dan kondisi bandara sebagai fitur tambahan untuk meningkatkan akurasi prediksi.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09160" y="960120"/>
            <a:ext cx="416052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74320" y="2971800"/>
            <a:ext cx="4160520" cy="1828800"/>
          </a:xfrm>
          <a:prstGeom prst="rect">
            <a:avLst/>
          </a:prstGeom>
          <a:solidFill>
            <a:srgbClr val="0D1E33"/>
          </a:solidFill>
          <a:ln w="9525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2971800"/>
            <a:ext cx="416052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10896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Deep Learning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11480" y="342900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arsitektur LSTM atau Transformer untuk menangkap dependensi temporal yang lebih kompleks dalam data penerbangan berurutan.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74320" y="2971800"/>
            <a:ext cx="416052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09160" y="2971800"/>
            <a:ext cx="4160520" cy="1828800"/>
          </a:xfrm>
          <a:prstGeom prst="rect">
            <a:avLst/>
          </a:prstGeom>
          <a:solidFill>
            <a:srgbClr val="0D1E33"/>
          </a:solidFill>
          <a:ln w="9525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709160" y="2971800"/>
            <a:ext cx="4160520" cy="45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10896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1208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Monitoring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846320" y="342900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Implementasikan model sebagai API RESTful dengan sistem monitoring drift untuk memastikan performa model tetap optimal di lingkungan produksi.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4709160" y="2971800"/>
            <a:ext cx="4160520" cy="457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274320" y="4617720"/>
            <a:ext cx="8595360" cy="256032"/>
          </a:xfrm>
          <a:prstGeom prst="rect">
            <a:avLst/>
          </a:prstGeom>
          <a:solidFill>
            <a:srgbClr val="071428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65760" y="463600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"Prediksi yang baik bukan hanya tentang akurasi model, tetapi tentang dampak nyata bagi penumpang dan industri penerbangan."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1710</Words>
  <Application>Microsoft Office PowerPoint</Application>
  <PresentationFormat>On-screen Show (16:9)</PresentationFormat>
  <Paragraphs>289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Prediksi Keterlambatan Penerbangan</dc:title>
  <dc:subject>PptxGenJS Presentation</dc:subject>
  <dc:creator>LA ODE AZWAR AIMAN</dc:creator>
  <cp:lastModifiedBy>Zaid Helsinki Putra</cp:lastModifiedBy>
  <cp:revision>2</cp:revision>
  <dcterms:created xsi:type="dcterms:W3CDTF">2026-04-14T14:03:32Z</dcterms:created>
  <dcterms:modified xsi:type="dcterms:W3CDTF">2026-04-14T14:54:44Z</dcterms:modified>
</cp:coreProperties>
</file>